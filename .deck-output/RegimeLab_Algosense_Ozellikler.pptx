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fba66a164a494c" /><Relationship Type="http://schemas.openxmlformats.org/officeDocument/2006/relationships/extended-properties" Target="/docProps/app.xml" Id="R4dc3b79ad6944e48" /><Relationship Type="http://schemas.openxmlformats.org/officeDocument/2006/relationships/officeDocument" Target="/ppt/presentation.xml" Id="R35aa1251c5aa48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d70a33c26e45fe"/>
  </p:sldMasterIdLst>
  <p:notesMasterIdLst>
    <p:notesMasterId xmlns:r="http://schemas.openxmlformats.org/officeDocument/2006/relationships" r:id="Rb43691b144d74dc8"/>
  </p:notesMasterIdLst>
  <p:sldIdLst>
    <p:sldId xmlns:r="http://schemas.openxmlformats.org/officeDocument/2006/relationships" id="256" r:id="R74b60211f3c148a6"/>
    <p:sldId xmlns:r="http://schemas.openxmlformats.org/officeDocument/2006/relationships" id="257" r:id="Rc83d29fc71224655"/>
    <p:sldId xmlns:r="http://schemas.openxmlformats.org/officeDocument/2006/relationships" id="258" r:id="R94994884c22d4d9c"/>
    <p:sldId xmlns:r="http://schemas.openxmlformats.org/officeDocument/2006/relationships" id="259" r:id="Re5e3e359ea1d49ba"/>
    <p:sldId xmlns:r="http://schemas.openxmlformats.org/officeDocument/2006/relationships" id="260" r:id="R88d7014921e34d97"/>
    <p:sldId xmlns:r="http://schemas.openxmlformats.org/officeDocument/2006/relationships" id="261" r:id="Ra01898c864e94888"/>
    <p:sldId xmlns:r="http://schemas.openxmlformats.org/officeDocument/2006/relationships" id="262" r:id="R27a343ca2f2d4f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29254345fd4c02" /><Relationship Type="http://schemas.openxmlformats.org/officeDocument/2006/relationships/slideMaster" Target="/ppt/slideMasters/slideMaster1.xml" Id="R64d70a33c26e45fe" /><Relationship Type="http://schemas.openxmlformats.org/officeDocument/2006/relationships/notesMaster" Target="/ppt/notesMasters/notesMaster1.xml" Id="Rb43691b144d74dc8" /><Relationship Type="http://schemas.openxmlformats.org/officeDocument/2006/relationships/presProps" Target="/ppt/presProps.xml" Id="Re20bbf37517a422a" /><Relationship Type="http://schemas.openxmlformats.org/officeDocument/2006/relationships/tableStyles" Target="/ppt/tableStyles.xml" Id="R97ec03e9e97248d6" /><Relationship Type="http://schemas.openxmlformats.org/officeDocument/2006/relationships/slide" Target="/ppt/slides/slide1.xml" Id="R74b60211f3c148a6" /><Relationship Type="http://schemas.openxmlformats.org/officeDocument/2006/relationships/slide" Target="/ppt/slides/slide2.xml" Id="Rc83d29fc71224655" /><Relationship Type="http://schemas.openxmlformats.org/officeDocument/2006/relationships/slide" Target="/ppt/slides/slide3.xml" Id="R94994884c22d4d9c" /><Relationship Type="http://schemas.openxmlformats.org/officeDocument/2006/relationships/slide" Target="/ppt/slides/slide4.xml" Id="Re5e3e359ea1d49ba" /><Relationship Type="http://schemas.openxmlformats.org/officeDocument/2006/relationships/slide" Target="/ppt/slides/slide5.xml" Id="R88d7014921e34d97" /><Relationship Type="http://schemas.openxmlformats.org/officeDocument/2006/relationships/slide" Target="/ppt/slides/slide6.xml" Id="Ra01898c864e94888" /><Relationship Type="http://schemas.openxmlformats.org/officeDocument/2006/relationships/slide" Target="/ppt/slides/slide7.xml" Id="R27a343ca2f2d4f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d86cf1bb254c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903e0d275e4d1f" /><Relationship Type="http://schemas.openxmlformats.org/officeDocument/2006/relationships/notesMaster" Target="/ppt/notesMasters/notesMaster1.xml" Id="Re21014e99c644e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a1a80e8a1f4781" /><Relationship Type="http://schemas.openxmlformats.org/officeDocument/2006/relationships/notesMaster" Target="/ppt/notesMasters/notesMaster1.xml" Id="R6eac2ba2d80443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18e778f43b4dfb" /><Relationship Type="http://schemas.openxmlformats.org/officeDocument/2006/relationships/notesMaster" Target="/ppt/notesMasters/notesMaster1.xml" Id="R6792df09d2d246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9b63f727d345f2" /><Relationship Type="http://schemas.openxmlformats.org/officeDocument/2006/relationships/notesMaster" Target="/ppt/notesMasters/notesMaster1.xml" Id="Reddf77e9a8bf4a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3e71b82dcd44ae" /><Relationship Type="http://schemas.openxmlformats.org/officeDocument/2006/relationships/notesMaster" Target="/ppt/notesMasters/notesMaster1.xml" Id="R860ea43f1e304f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8cb0c461c844ce" /><Relationship Type="http://schemas.openxmlformats.org/officeDocument/2006/relationships/notesMaster" Target="/ppt/notesMasters/notesMaster1.xml" Id="Re27c523056f540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50d547087f414e" /><Relationship Type="http://schemas.openxmlformats.org/officeDocument/2006/relationships/notesMaster" Target="/ppt/notesMasters/notesMaster1.xml" Id="R02bf822dd61a4a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RegimeLab proje kodu, README ve Algosense ana sayfasının görsel/iletişim yaklaşımı. https://algosense.com.tr/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RegimeLab proje kodu, README ve Algosense ana sayfasının görsel/iletişim yaklaşımı. https://algosense.com.tr/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RegimeLab proje kodu, README ve Algosense ana sayfasının görsel/iletişim yaklaşımı. https://algosense.com.tr/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RegimeLab proje kodu, README ve Algosense ana sayfasının görsel/iletişim yaklaşımı. https://algosense.com.tr/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RegimeLab proje kodu, README ve Algosense ana sayfasının görsel/iletişim yaklaşımı. https://algosense.com.tr/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RegimeLab proje kodu, README ve Algosense ana sayfasının görsel/iletişim yaklaşımı. https://algosense.com.tr/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RegimeLab proje kodu, README ve Algosense ana sayfasının görsel/iletişim yaklaşımı. https://algosense.com.tr/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8fe9c551af4a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a124a8e4414b54" /><Relationship Type="http://schemas.openxmlformats.org/officeDocument/2006/relationships/slideLayout" Target="/ppt/slideLayouts/slideLayout1.xml" Id="R2de2dd16024a45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e2dd16024a45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96fa710614a12" /><Relationship Type="http://schemas.openxmlformats.org/officeDocument/2006/relationships/notesSlide" Target="/ppt/notesSlides/notesSlide1.xml" Id="R71cc8fc5746343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98c9f28eb4cd7" /><Relationship Type="http://schemas.openxmlformats.org/officeDocument/2006/relationships/notesSlide" Target="/ppt/notesSlides/notesSlide2.xml" Id="Rb5bd9fb9528448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15dc5f9f114796" /><Relationship Type="http://schemas.openxmlformats.org/officeDocument/2006/relationships/notesSlide" Target="/ppt/notesSlides/notesSlide3.xml" Id="R67be6ada1a2b4b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b39ac5c594e04" /><Relationship Type="http://schemas.openxmlformats.org/officeDocument/2006/relationships/notesSlide" Target="/ppt/notesSlides/notesSlide4.xml" Id="R71b17ebcf79f49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af032ccd74abe" /><Relationship Type="http://schemas.openxmlformats.org/officeDocument/2006/relationships/notesSlide" Target="/ppt/notesSlides/notesSlide5.xml" Id="Raa3d030aa5de44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43d83a39d4637" /><Relationship Type="http://schemas.openxmlformats.org/officeDocument/2006/relationships/notesSlide" Target="/ppt/notesSlides/notesSlide6.xml" Id="R158ad9abeec844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6e1076db14ce9" /><Relationship Type="http://schemas.openxmlformats.org/officeDocument/2006/relationships/notesSlide" Target="/ppt/notesSlides/notesSlide7.xml" Id="R206decd9f28846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A2168-48D5-4CE3-A9E0-4F7D2A2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REGIMELAB × ALGOSENSE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B7F59-D873-41E6-8E81-4153BD0B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Algoritmik araştırma altyapısı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5EE3C-3048-45FD-BE06-C491FF39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RegimeLab  |  Eylül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5297F-4C7E-4052-AC4B-A0C10CB5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Program özellikleri, mevcut kapsam ve gelecek planı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B305F-1F00-435E-BEFC-BC5F2B12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Veriden modele, rejimden doğrulanmış backteste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14C87-A096-4101-A72E-68464EC5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E5A0"/>
                </a:solidFill>
                <a:latin typeface="Arial"/>
                <a:ea typeface="Arial"/>
                <a:cs typeface="Arial"/>
              </a:rPr>
              <a:t>Koyu zemin · neon yeşil vurgu · düşük gecikme ve veri güveni odağı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A549C-7186-4406-811F-BD2B9036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245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1967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C7363-7320-492B-93DE-08971E4E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REGIMELAB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CF54D-6D92-4063-8937-A02E674F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Platformun çalışma modeli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20499-5D3C-4CB8-938F-833CA33C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RegimeLab  |  Eylül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DED5C-F03D-4525-86D7-58CDAF77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7D858-378C-4AC1-8496-D0EB71B8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Piyasa verisi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7C76D-9C14-4212-9F66-EB1B1892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716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8E57F-E87E-4A8E-9922-3BD5AB31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2E152-3DA4-4321-A034-96B18591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71675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PIT kontrolü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42D82-CB65-455F-A1EF-D6C614A6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716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C8B4E-E9CD-4574-9DD0-33B3AC50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86EFB-1307-476B-B9BB-FBD671B3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71675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Feature üretimi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0F832-18D1-4A7A-A941-5FB21982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716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366E5-36D9-4F00-A385-941DE8B5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854F1-ADBE-469C-8F3A-814FFB87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71675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Rejim analizi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3626F-9932-4197-8DEE-C1833BE1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716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E039A-38FA-4C85-A28C-BE0F05C6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E297D-5909-4F91-9B90-44612928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71675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Model havuzu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37A67-5B9E-435A-A474-63C13EFC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1408D-62EE-4478-9BBD-AEBF3F93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10D59-DB33-4971-B00C-60F94B7B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71675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Walk-forward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D7D22-878E-457C-83BE-EA505A13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716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8F6B9-43A0-4C73-BD29-6B572128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02A54-734A-4681-9960-36530A41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971675"/>
            <a:ext cx="128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Final holdout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F93D2E-F496-41C4-9F63-A966C13E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Temel omurga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813D6-78D1-4E3B-954A-64BB9B8C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7FA"/>
                </a:solidFill>
                <a:latin typeface="Arial"/>
                <a:ea typeface="Arial"/>
                <a:cs typeface="Arial"/>
              </a:rPr>
              <a:t>CSV veri sözleşmesi · snapshot + SHA-256 · Gaussian HMM · GA ile aday seçimi · maliyet duyarlı backtest · deney geçmişi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6056C6-D84D-40C4-ACB7-578FCA5B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Amaç: araştırma kararlarını izlenebilir, kronolojik ve tekrarlanabilir hale getirmek.</a:t>
            </a:r>
          </a:p>
        </p:txBody>
      </p:sp>
    </p:spTree>
    <p:extLst>
      <p:ext uri="{BB962C8B-B14F-4D97-AF65-F5344CB8AC3E}">
        <p14:creationId xmlns:p14="http://schemas.microsoft.com/office/powerpoint/2010/main" val="1888612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0AB94-C544-4B8A-84CF-5AA5ED65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REGIMELAB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6548A-D384-4235-816D-7D221E2A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Data engineering ve FX / makro kapsamı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FF148-5594-4644-AD57-126CEA12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RegimeLab  |  Eylül 2026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83230"/>
                <a:gridCol w="3977640"/>
                <a:gridCol w="1657350"/>
                <a:gridCol w="2430780"/>
              </a:tblGrid>
              <a:tr h="585107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Özellik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Ne sağlar?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Durum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Gelecek planı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CSV + macro/fx/rates/cross-asset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Harici serileri ortak veri sözleşmesiyle alır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00E5A0"/>
                          </a:solidFill>
                          <a:latin typeface="Arial"/>
                          <a:ea typeface="Arial"/>
                          <a:cs typeface="Arial"/>
                        </a:rPr>
                        <a:t>Var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Canlı sağlayıcı bağlantıları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Point-in-time / available_at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Yayın zamanından önce veriyi kullanmaz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BE67"/>
                          </a:solidFill>
                          <a:latin typeface="Arial"/>
                          <a:ea typeface="Arial"/>
                          <a:cs typeface="Arial"/>
                        </a:rPr>
                        <a:t>Kısmen var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Vintage ve release calendar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Snapshot + SHA-256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Veri setini değişmez ve izlenebilir saklar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00E5A0"/>
                          </a:solidFill>
                          <a:latin typeface="Arial"/>
                          <a:ea typeface="Arial"/>
                          <a:cs typeface="Arial"/>
                        </a:rPr>
                        <a:t>Var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Tam lineage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Vintage / revision / survivorship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Eski sürüm ve evren değişimini denetler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ALFRED + revision kayıtları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Option IV / forward / swaps / OIS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FX fiyatlama ve carry girdileri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Eğri ve surface pipeline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CFTC / dealer / order flow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Pozisyon ve mikro yapı sinyalleri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Tick ve order-book katmanı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263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CB0A9-E610-45DE-9D31-06AE19C7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REGIMELAB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4E2B1-0544-4495-B241-811DA061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Feature engineering ve stability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81E2B-BB68-47D3-B417-9810D02C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RegimeLab  |  Eylül 2026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83230"/>
                <a:gridCol w="3977640"/>
                <a:gridCol w="1657350"/>
                <a:gridCol w="2430780"/>
              </a:tblGrid>
              <a:tr h="5298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Özellik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Ne sağlar?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Durum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Gelecek planı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Lag / delta / return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Harici serilerden nedensel türevler üretir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00E5A0"/>
                          </a:solidFill>
                          <a:latin typeface="Arial"/>
                          <a:ea typeface="Arial"/>
                          <a:cs typeface="Arial"/>
                        </a:rPr>
                        <a:t>Var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Feature registry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Rolling istatistikler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Volatilite, korelasyon, beta ve dağılım ölçüleri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BE67"/>
                          </a:solidFill>
                          <a:latin typeface="Arial"/>
                          <a:ea typeface="Arial"/>
                          <a:cs typeface="Arial"/>
                        </a:rPr>
                        <a:t>Kısmen var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Quantile, MAD, IQR, entropy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Nonlinear transformations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Threshold, sigmoid, tanh, spline dönüşümleri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Versioned transformer’lar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IC / IC decay / sign consistency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Bilgi gücü ve zaman kararlılığını ölçer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Fold bazlı stability raporu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Orthogonalization / MI / clustering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Redundancy ve ortak bilgiyi azaltır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Train-only dönüşümler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PCA / PLS / factors / frac diff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Boyut indirgeme ve seri yapısı çıkarımı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Aday transformer modülleri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SHAP / ablation / regime stability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Katkıların rejimler arası dayanıklılığını test eder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Açıklama artifact’ları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0597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C671F-9AFF-48D8-985E-D2F003BD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REGIMELAB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21607-3D1A-4235-9E25-BBC79D15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Modelleme ve olasılıksal tahmin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0DC02-6A46-4445-9B50-6FEC9FB0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RegimeLab  |  Eylül 2026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83230"/>
                <a:gridCol w="3977640"/>
                <a:gridCol w="1657350"/>
                <a:gridCol w="2430780"/>
              </a:tblGrid>
              <a:tr h="5298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Özellik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Ne sağlar?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Durum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Gelecek planı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Gaussian HMM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Piyasa rejimlerini ileri filtreleme ile çıkarır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00E5A0"/>
                          </a:solidFill>
                          <a:latin typeface="Arial"/>
                          <a:ea typeface="Arial"/>
                          <a:cs typeface="Arial"/>
                        </a:rPr>
                        <a:t>Var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Daha geniş rejim modelleri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Ridge / Random Forest / HGBM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Trend, momentum ve volatilite uzmanları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00E5A0"/>
                          </a:solidFill>
                          <a:latin typeface="Arial"/>
                          <a:ea typeface="Arial"/>
                          <a:cs typeface="Arial"/>
                        </a:rPr>
                        <a:t>Var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Kalibrasyon ve çeşitlilik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XGBoost / LightGBM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Gradient boosting tabanlı seçenekler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00E5A0"/>
                          </a:solidFill>
                          <a:latin typeface="Arial"/>
                          <a:ea typeface="Arial"/>
                          <a:cs typeface="Arial"/>
                        </a:rPr>
                        <a:t>Var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Geniş HPO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Stacking / blending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Model havuzunu birleştirir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BE67"/>
                          </a:solidFill>
                          <a:latin typeface="Arial"/>
                          <a:ea typeface="Arial"/>
                          <a:cs typeface="Arial"/>
                        </a:rPr>
                        <a:t>Kısmen var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Leakage kontrollü stacking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Probability calibration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Olasılık güvenilirliğini ölçer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Calibration pipeline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Conformal / uncertainty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Tahmin aralığı ve belirsizlik üretir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Conformal prediction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Quantile / distributional forecasting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Dağılım ve quantile tahmini yapar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Rejim bazlı tahmin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942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FE46B-67C7-4A0C-9993-D470EB09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REGIMELAB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05C1F-D4A1-4441-A8C9-B300633A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Validasyon, backtest ve yönetişim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F39F5-7826-4A33-A734-8449CE98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RegimeLab  |  Eylül 2026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83230"/>
                <a:gridCol w="3977640"/>
                <a:gridCol w="1657350"/>
                <a:gridCol w="2430780"/>
              </a:tblGrid>
              <a:tr h="52982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Özellik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Ne sağlar?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Durum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81018"/>
                          </a:solidFill>
                          <a:latin typeface="Arial"/>
                          <a:ea typeface="Arial"/>
                          <a:cs typeface="Arial"/>
                        </a:rPr>
                        <a:t>Gelecek planı</a:t>
                      </a:r>
                    </a:p>
                  </a:txBody>
                  <a:tcPr marL="91440" marR="91440" marT="45720" marB="45720">
                    <a:solidFill>
                      <a:srgbClr val="00E5A0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Walk-forward + gap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Zaman sırasını koruyan doğrulama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00E5A0"/>
                          </a:solidFill>
                          <a:latin typeface="Arial"/>
                          <a:ea typeface="Arial"/>
                          <a:cs typeface="Arial"/>
                        </a:rPr>
                        <a:t>Var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Daha ayrıntılı fold raporu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Untouched final holdout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Aday seçiminden sonra tek final test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00E5A0"/>
                          </a:solidFill>
                          <a:latin typeface="Arial"/>
                          <a:ea typeface="Arial"/>
                          <a:cs typeface="Arial"/>
                        </a:rPr>
                        <a:t>Var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Test governance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Purged K-Fold / embargo / CPCV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Overlap ve leakage riskini azaltır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Gelişmiş splitter’lar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Rolling / anchored retraining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Modeli dönemsel yeniden eğitir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Retraining policy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Cost / slippage / latency sensitivity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Gerçekçilik ve dayanıklılık testi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BE67"/>
                          </a:solidFill>
                          <a:latin typeface="Arial"/>
                          <a:ea typeface="Arial"/>
                          <a:cs typeface="Arial"/>
                        </a:rPr>
                        <a:t>Kısmen var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Stress matrix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Experiment registry / workspace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Deney, log, hash ve erişimi saklar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00E5A0"/>
                          </a:solidFill>
                          <a:latin typeface="Arial"/>
                          <a:ea typeface="Arial"/>
                          <a:cs typeface="Arial"/>
                        </a:rPr>
                        <a:t>Var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Artifact lineage</a:t>
                      </a:r>
                    </a:p>
                  </a:txBody>
                  <a:tcPr marL="91440" marR="91440" marT="45720" marB="45720">
                    <a:solidFill>
                      <a:srgbClr val="0C151E"/>
                    </a:solidFill>
                  </a:tcPr>
                </a:tc>
              </a:tr>
              <a:tr h="52982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SHAP / permutation stability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Açıklamaların kararlılığını ölçer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28F98"/>
                          </a:solidFill>
                          <a:latin typeface="Arial"/>
                          <a:ea typeface="Arial"/>
                          <a:cs typeface="Arial"/>
                        </a:rPr>
                        <a:t>Yok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F3F7FA"/>
                          </a:solidFill>
                          <a:latin typeface="Arial"/>
                          <a:ea typeface="Arial"/>
                          <a:cs typeface="Arial"/>
                        </a:rPr>
                        <a:t>Stability raporu</a:t>
                      </a:r>
                    </a:p>
                  </a:txBody>
                  <a:tcPr marL="91440" marR="91440" marT="45720" marB="45720">
                    <a:solidFill>
                      <a:srgbClr val="101B2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9648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6536F-E5C5-49C4-A64A-C4276D55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REGIMELAB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140AB-93DF-4F57-9DEC-7EDD166D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Gelecek planı: veri güveninden üretim olasılıksallığına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556AD-B04E-4D10-A16E-7E2BCB55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RegimeLab  |  Eylül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61B31-6EF6-43C5-A9B9-75725448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4EF88-7AD8-4051-B3D2-A6F46689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381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Veri temeli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834A14-FCCE-4888-B9A7-C1018F35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3811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ALFRED vintage, release timestamp, timezone/DST ve missing-data provenance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BA1FD-939D-434B-9CC8-AE7514BF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442"/>
                </a:solidFill>
                <a:latin typeface="Arial"/>
                <a:ea typeface="Arial"/>
                <a:cs typeface="Arial"/>
              </a:rPr>
              <a:t>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73937-F4A8-4C4D-AA89-89A94493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193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BDB29-CD8A-462F-AD6E-5BC4394F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19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Finansal veri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06B8D-D62B-43D7-99FF-C77FD67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193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FX option IV, forward/swap, OIS, basis, CFTC ve order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BD009-D8BA-45AE-B783-B341B2C9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4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442"/>
                </a:solidFill>
                <a:latin typeface="Arial"/>
                <a:ea typeface="Arial"/>
                <a:cs typeface="Arial"/>
              </a:rPr>
              <a:t>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14E22-A73F-43D1-A4A4-C56B458E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7B063-6EFE-4877-AA21-ADA5978C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575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Feature zekâsı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130F2-7928-49E9-B0A9-7AA289A4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IC decay, stability selection, drift, structural break, SHAP ve ablation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0D0A9-3B69-4F1B-98D5-49DE819D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4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442"/>
                </a:solidFill>
                <a:latin typeface="Arial"/>
                <a:ea typeface="Arial"/>
                <a:cs typeface="Arial"/>
              </a:rPr>
              <a:t>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12289-513E-4D04-B0D3-62F6A456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4A6CC4-2580-40E1-A5FF-99B7C111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95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İleri validasyon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B7679-FEC5-428D-86E9-685FC3AF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957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Purged K-Fold, embargo, CPCV, rolling retraining ve nested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3B621-6226-421E-ACFE-EEC841C3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14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344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3442"/>
                </a:solidFill>
                <a:latin typeface="Arial"/>
                <a:ea typeface="Arial"/>
                <a:cs typeface="Arial"/>
              </a:rPr>
              <a:t>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9BADD-72AF-493C-8C6F-ECDD9215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7ADF8-DCD0-45F9-9A09-E6DBE0D1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33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3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F7FA"/>
                </a:solidFill>
                <a:latin typeface="Arial"/>
                <a:ea typeface="Arial"/>
                <a:cs typeface="Arial"/>
              </a:rPr>
              <a:t>Tahmin katmanı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CCC005-8356-4BE9-B262-C0387BF9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339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4B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1A4B6"/>
                </a:solidFill>
                <a:latin typeface="Arial"/>
                <a:ea typeface="Arial"/>
                <a:cs typeface="Arial"/>
              </a:rPr>
              <a:t>Calibration, conformal, quantile/distributional forecasting ve online learning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268780-A8FE-4A08-A348-9FFDE919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E5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E5A0"/>
                </a:solidFill>
                <a:latin typeface="Arial"/>
                <a:ea typeface="Arial"/>
                <a:cs typeface="Arial"/>
              </a:rPr>
              <a:t>Öncelik sırası: veri doğruluğu → finansal gerçekçilik → feature stability → validasyon → belirsizlik yönetimi</a:t>
            </a:r>
          </a:p>
        </p:txBody>
      </p:sp>
    </p:spTree>
    <p:extLst>
      <p:ext uri="{BB962C8B-B14F-4D97-AF65-F5344CB8AC3E}">
        <p14:creationId xmlns:p14="http://schemas.microsoft.com/office/powerpoint/2010/main" val="8113897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2026-09-06T11:35:33.8560000Z</dcterms:created>
  <dcterms:modified xsi:type="dcterms:W3CDTF">2026-09-06T11:35:33.8560000Z</dcterms:modified>
</coreProperties>
</file>